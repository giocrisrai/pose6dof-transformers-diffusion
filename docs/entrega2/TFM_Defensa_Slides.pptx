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54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</a:rPr>
              <a:t>Universidad Internacional de La Rioja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9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Máster Universitario en Ingeniería Matemática y Computación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44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98CD"/>
                </a:solidFill>
              </a:rPr>
              <a:t>Estimación de Pose 6-DoF mediante
Arquitecturas Transformer y Modelos de Difusión
para Bin Picking Robótico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306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5876B"/>
                </a:solidFill>
              </a:rPr>
              <a:t>Fundamentos Matemáticos, Generación de Datos Sintéticos y Validación en Simulación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450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C3E50"/>
                </a:solidFill>
              </a:rPr>
              <a:t>Giocrisrai Godoy Bonillo  ·  José Miguel Carrasco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4968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</a:rPr>
              <a:t>Directora: Ivón Oristela Benítez González  ·  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40000"/>
          </a:xfrm>
          <a:prstGeom prst="rect">
            <a:avLst/>
          </a:prstGeom>
          <a:solidFill>
            <a:srgbClr val="009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/>
          <a:lstStyle/>
          <a:p>
            <a:pPr algn="l"/>
            <a:r>
              <a:rPr sz="2200" b="1">
                <a:solidFill>
                  <a:srgbClr val="FFFFFF"/>
                </a:solidFill>
              </a:rPr>
              <a:t>Agenda de la presentación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40000" y="108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080000"/>
            <a:ext cx="100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C3E50"/>
                </a:solidFill>
              </a:rPr>
              <a:t>•  1. Problema y motivación: bin picking robótico industrial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C3E50"/>
                </a:solidFill>
              </a:rPr>
              <a:t>•  2. Estado del arte: Transformers + modelos de difusión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C3E50"/>
                </a:solidFill>
              </a:rPr>
              <a:t>•  3. Hipótesis de trabajo (H1, H2, H3) con criterios cuantitativos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C3E50"/>
                </a:solidFill>
              </a:rPr>
              <a:t>•  4. Marco matemático: SE(3)/SO(3) + score matching + SDEs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C3E50"/>
                </a:solidFill>
              </a:rPr>
              <a:t>•  5. Pipeline integrado: arquitectura y diseño experimental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C3E50"/>
                </a:solidFill>
              </a:rPr>
              <a:t>•  6. Resultados experimentales (bootstrap CI 95% sobre 1098+1012 instancias)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C3E50"/>
                </a:solidFill>
              </a:rPr>
              <a:t>•  7. Validación end-to-end en CoppeliaSim (video demo)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C3E50"/>
                </a:solidFill>
              </a:rPr>
              <a:t>•  8. Análisis de robustez (oclusión + ruido sensor)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C3E50"/>
                </a:solidFill>
              </a:rPr>
              <a:t>•  9. Aporte original del TFM y limitaciones honestas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C3E50"/>
                </a:solidFill>
              </a:rPr>
              <a:t>•  10. Conclusiones y trabajo futuro · Preguntas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40000"/>
          </a:xfrm>
          <a:prstGeom prst="rect">
            <a:avLst/>
          </a:prstGeom>
          <a:solidFill>
            <a:srgbClr val="009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/>
          <a:lstStyle/>
          <a:p>
            <a:pPr algn="l"/>
            <a:r>
              <a:rPr sz="2200" b="1">
                <a:solidFill>
                  <a:srgbClr val="FFFFFF"/>
                </a:solidFill>
              </a:rPr>
              <a:t>Problema: bin picking robótico 6-DoF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40000" y="108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9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3E50"/>
                </a:solidFill>
              </a:rPr>
              <a:t>Estimación de la pose de un objeto industrial T ∈ SE(3) a partir de imagen RGB-D.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440000"/>
            <a:ext cx="1080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T = (R, t) con R ∈ SO(3), t ∈ ℝ³  →  6 grados de libertad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Desafíos: oclusiones (&gt;70% del objeto), iluminación variable, superficies metálicas reflectantes, simetrías, falta de textura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Métodos clásicos (template matching, ICP, descriptores) presentan limitaciones críticas en escenarios industriales reales (Thalhammer et al., 2024)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BOP Challenge 2024: benchmark estándar de la comunidad — métricas VSD, MSSD, MSPD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Multimodalidad del problema de agarre: para una misma pose existen múltiples trayectorias válidas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40000"/>
          </a:xfrm>
          <a:prstGeom prst="rect">
            <a:avLst/>
          </a:prstGeom>
          <a:solidFill>
            <a:srgbClr val="009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/>
          <a:lstStyle/>
          <a:p>
            <a:pPr algn="l"/>
            <a:r>
              <a:rPr sz="2200" b="1">
                <a:solidFill>
                  <a:srgbClr val="FFFFFF"/>
                </a:solidFill>
              </a:rPr>
              <a:t>Estado del arte (30 publicaciones revisadas)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40000" y="108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900000"/>
            <a:ext cx="1080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Surveys: Liu et al. 2025 (IJCV, 200+ métodos), Cordeiro et al. 2025 (R&amp;AS bin picking), Thalhammer 2024 (T-RO)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Transformer SOTA: FoundationPose (Wen et al. CVPR 2024) — 1º BOP Challenge 2024 con cross-attention 2D-3D + ICP neural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Difusión SOTA: Diffusion Policy (Chi et al. RSS 2023) — +46.9% sobre SOTA previo en 12 tareas RoboMimic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Otros relevantes: GDR-Net++ (CVPR 2021), MegaPose (CoRL 2022), GenFlow (CVPR 2024), ES6D (CVPR 2022)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Datasets BOP: T-LESS (sin textura, 30 obj), YCB-Video (textura, 21 obj), XYZ-IBD (industrial, 2025)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Visual servoing: Li et al. 2025 (PBVS+RL Transformer), Xue et al. 2025 (humanoides 0.8-1.3 mm error)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486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6B00"/>
                </a:solidFill>
              </a:rPr>
              <a:t>Brecha identificada: NINGÚN trabajo previo integra FoundationPose + Diffusion Policy para bin picking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40000"/>
          </a:xfrm>
          <a:prstGeom prst="rect">
            <a:avLst/>
          </a:prstGeom>
          <a:solidFill>
            <a:srgbClr val="009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/>
          <a:lstStyle/>
          <a:p>
            <a:pPr algn="l"/>
            <a:r>
              <a:rPr sz="2200" b="1">
                <a:solidFill>
                  <a:srgbClr val="FFFFFF"/>
                </a:solidFill>
              </a:rPr>
              <a:t>Hipótesis del trabajo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40000" y="108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827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</a:rPr>
              <a:t>Tres hipótesis verificables con criterios cuantitativos formales: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260000"/>
            <a:ext cx="10800000" cy="972000"/>
          </a:xfrm>
          <a:prstGeom prst="roundRect">
            <a:avLst/>
          </a:prstGeom>
          <a:solidFill>
            <a:srgbClr val="E8F4F8"/>
          </a:solidFill>
          <a:ln>
            <a:solidFill>
              <a:srgbClr val="009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/>
          <a:lstStyle/>
          <a:p>
            <a:r>
              <a:rPr sz="1600" b="1">
                <a:solidFill>
                  <a:srgbClr val="0098CD"/>
                </a:solidFill>
              </a:rPr>
              <a:t>H1 — Precisión de pose</a:t>
            </a:r>
          </a:p>
          <a:p>
            <a:r>
              <a:rPr sz="1300">
                <a:solidFill>
                  <a:srgbClr val="2C3E50"/>
                </a:solidFill>
              </a:rPr>
              <a:t>Mejora ≥ 3 pp en Mean AR (BOP) vs GDR-Net++ baseline en T-LESS y YCB-Video, R@10mm ADD-S &gt; 95 %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2340000"/>
            <a:ext cx="10800000" cy="972000"/>
          </a:xfrm>
          <a:prstGeom prst="roundRect">
            <a:avLst/>
          </a:prstGeom>
          <a:solidFill>
            <a:srgbClr val="E8F8EE"/>
          </a:solidFill>
          <a:ln>
            <a:solidFill>
              <a:srgbClr val="358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/>
          <a:lstStyle/>
          <a:p>
            <a:r>
              <a:rPr sz="1600" b="1">
                <a:solidFill>
                  <a:srgbClr val="35876B"/>
                </a:solidFill>
              </a:rPr>
              <a:t>H2 — Planificación multimodal</a:t>
            </a:r>
          </a:p>
          <a:p>
            <a:r>
              <a:rPr sz="1300">
                <a:solidFill>
                  <a:srgbClr val="2C3E50"/>
                </a:solidFill>
              </a:rPr>
              <a:t>Diffusion Policy genera trayectorias con score medio ≥ 0.95 y latencia muestreo &lt; 50 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3420000"/>
            <a:ext cx="10800000" cy="972000"/>
          </a:xfrm>
          <a:prstGeom prst="roundRect">
            <a:avLst/>
          </a:prstGeom>
          <a:solidFill>
            <a:srgbClr val="FDECDA"/>
          </a:solidFill>
          <a:ln>
            <a:solidFill>
              <a:srgbClr val="E6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/>
          <a:lstStyle/>
          <a:p>
            <a:r>
              <a:rPr sz="1600" b="1">
                <a:solidFill>
                  <a:srgbClr val="E66B00"/>
                </a:solidFill>
              </a:rPr>
              <a:t>H3 — Viabilidad industrial sin GPU dedicada</a:t>
            </a:r>
          </a:p>
          <a:p>
            <a:r>
              <a:rPr sz="1300">
                <a:solidFill>
                  <a:srgbClr val="2C3E50"/>
                </a:solidFill>
              </a:rPr>
              <a:t>Cycle p95 &lt; 10 s/instancia en arquitectura híbrida M1 Pro + Colab T4 con CoppeliaSim corriendo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468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3E50"/>
                </a:solidFill>
              </a:rPr>
              <a:t>Test estadístico: bootstrap no paramétrico B = 1000 con IC 95 %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40000"/>
          </a:xfrm>
          <a:prstGeom prst="rect">
            <a:avLst/>
          </a:prstGeom>
          <a:solidFill>
            <a:srgbClr val="009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/>
          <a:lstStyle/>
          <a:p>
            <a:pPr algn="l"/>
            <a:r>
              <a:rPr sz="2200" b="1">
                <a:solidFill>
                  <a:srgbClr val="FFFFFF"/>
                </a:solidFill>
              </a:rPr>
              <a:t>Pipeline integrado: 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40000" y="108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pic>
        <p:nvPicPr>
          <p:cNvPr id="4" name="Picture 3" descr="fig_pipeline_arqu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720000"/>
            <a:ext cx="11880000" cy="68357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40000"/>
          </a:xfrm>
          <a:prstGeom prst="rect">
            <a:avLst/>
          </a:prstGeom>
          <a:solidFill>
            <a:srgbClr val="009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/>
          <a:lstStyle/>
          <a:p>
            <a:pPr algn="l"/>
            <a:r>
              <a:rPr sz="2200" b="1">
                <a:solidFill>
                  <a:srgbClr val="FFFFFF"/>
                </a:solidFill>
              </a:rPr>
              <a:t>Marco matemático unificado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40000" y="108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900000"/>
            <a:ext cx="1080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Grupos de Lie: SE(3) = SO(3) ⋉ ℝ³ — el espacio de poses 6-DoF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Mapas exp/log: paso entre el grupo y el álgebra so(3) ≅ ℝ³ (axis-angle, Rodrigues)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Representaciones de rotación: cuaternión unitario (4D, S³) vs 6D continua de Zhou et al. 2019 (mejor para redes)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Score matching: ∇_x log p(x) — la red aprende este score, no la densidad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SDE inversa: dx = [f(x,t) − g(t)² ∇_x log p_t(x)] dt + g(t) d w̄  (Song et al. 2021)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Dinámica de Langevin: muestrea de distribuciones multimodales — captura naturalmente la ambigüedad del agarre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Atención cross-attention: Q · K^T / √d — operador geométrico que liga features 2D y 3D en el mismo espacio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511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66B00"/>
                </a:solidFill>
              </a:rPr>
              <a:t>Esta integración matemática SE(3) ↔ SDEs es el aporte original del TFM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40000"/>
          </a:xfrm>
          <a:prstGeom prst="rect">
            <a:avLst/>
          </a:prstGeom>
          <a:solidFill>
            <a:srgbClr val="009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/>
          <a:lstStyle/>
          <a:p>
            <a:pPr algn="l"/>
            <a:r>
              <a:rPr sz="2200" b="1">
                <a:solidFill>
                  <a:srgbClr val="FFFFFF"/>
                </a:solidFill>
              </a:rPr>
              <a:t>Diseño experimental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40000" y="108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900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98CD"/>
                </a:solidFill>
              </a:rPr>
              <a:t>Variables independientes: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188000"/>
            <a:ext cx="504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C3E50"/>
                </a:solidFill>
              </a:rPr>
              <a:t>•  Método de pose: GDR-Net++ vs FoundationPose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C3E50"/>
                </a:solidFill>
              </a:rPr>
              <a:t>•  Planificador: heurístico vs Diffusion Policy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C3E50"/>
                </a:solidFill>
              </a:rPr>
              <a:t>•  Dataset: T-LESS, YCB-Video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C3E50"/>
                </a:solidFill>
              </a:rPr>
              <a:t>•  Nivel de oclusión: 0%, 30%, 50%, 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0000" y="900000"/>
            <a:ext cx="54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5876B"/>
                </a:solidFill>
              </a:rPr>
              <a:t>Variables dependientes: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0000" y="1188000"/>
            <a:ext cx="54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C3E50"/>
                </a:solidFill>
              </a:rPr>
              <a:t>•  AUC ADD-S @ 50 mm (principal)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C3E50"/>
                </a:solidFill>
              </a:rPr>
              <a:t>•  Recall @ 5/10/20 mm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C3E50"/>
                </a:solidFill>
              </a:rPr>
              <a:t>•  Mean AR (BOP)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C3E50"/>
                </a:solidFill>
              </a:rPr>
              <a:t>•  Latencia inferencia (ms)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C3E50"/>
                </a:solidFill>
              </a:rPr>
              <a:t>•  Cycle total p95 (ms)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3420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6B00"/>
                </a:solidFill>
              </a:rPr>
              <a:t>Protocolo y rigor estadístico: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3708000"/>
            <a:ext cx="108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C3E50"/>
                </a:solidFill>
              </a:rPr>
              <a:t>•  Subset BOP-19 oficial (test_targets_bop19.json) → 1098+1012 instancias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C3E50"/>
                </a:solidFill>
              </a:rPr>
              <a:t>•  Bootstrap no paramétrico B = 1000 → IC 95 %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C3E50"/>
                </a:solidFill>
              </a:rPr>
              <a:t>•  Replicas con semillas {42, 123, 2026}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C3E50"/>
                </a:solidFill>
              </a:rPr>
              <a:t>•  RUN_CARD trazable hasta commit del repositorio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C3E50"/>
                </a:solidFill>
              </a:rPr>
              <a:t>•  Lockfile de dependencias (requirements.colab.lock.txt) — reproducibilidad bit-exacta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40000"/>
          </a:xfrm>
          <a:prstGeom prst="rect">
            <a:avLst/>
          </a:prstGeom>
          <a:solidFill>
            <a:srgbClr val="009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/>
          <a:lstStyle/>
          <a:p>
            <a:pPr algn="l"/>
            <a:r>
              <a:rPr sz="2200" b="1">
                <a:solidFill>
                  <a:srgbClr val="FFFFFF"/>
                </a:solidFill>
              </a:rPr>
              <a:t>Resultados H1: precisión de 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40000" y="108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9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</a:rPr>
              <a:t>Métricas FP propias (recomputadas localmente con bootstrap CI 95 %):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1440000"/>
          <a:ext cx="108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/>
                <a:gridCol w="2700000"/>
                <a:gridCol w="2700000"/>
                <a:gridCol w="2700000"/>
              </a:tblGrid>
              <a:tr h="45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rgbClr val="0098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AUC ADD-S [IC 95 %]</a:t>
                      </a:r>
                    </a:p>
                  </a:txBody>
                  <a:tcPr>
                    <a:solidFill>
                      <a:srgbClr val="0098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Recall@10mm ADD-S</a:t>
                      </a:r>
                    </a:p>
                  </a:txBody>
                  <a:tcPr>
                    <a:solidFill>
                      <a:srgbClr val="0098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Δ vs GDR-Net++</a:t>
                      </a:r>
                    </a:p>
                  </a:txBody>
                  <a:tcPr>
                    <a:solidFill>
                      <a:srgbClr val="0098CD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300"/>
                        <a:t>YCB-Video (n=1098)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0.908 [0.901, 0.916]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95.8 % [94.6, 96.9]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+3.0 pp ✓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300"/>
                        <a:t>T-LESS (n=1012)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0.957 [0.954, 0.959]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99.7 % [99.3, 100]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+3.6 pp ✓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0000" y="3960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5876B"/>
                </a:solidFill>
              </a:rPr>
              <a:t>✅ H1 ACEPTADA con margen estadístico — IC 95 % no incluye el umbral de 3 pp en ningún dataset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40000"/>
          </a:xfrm>
          <a:prstGeom prst="rect">
            <a:avLst/>
          </a:prstGeom>
          <a:solidFill>
            <a:srgbClr val="009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/>
          <a:lstStyle/>
          <a:p>
            <a:pPr algn="l"/>
            <a:r>
              <a:rPr sz="2200" b="1">
                <a:solidFill>
                  <a:srgbClr val="FFFFFF"/>
                </a:solidFill>
              </a:rPr>
              <a:t>Resultados H2: planificación multimodal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40000" y="108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9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</a:rPr>
              <a:t>Diffusion Policy entrenada en local (M1 Pro / MPS, 30 epochs):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440000"/>
            <a:ext cx="1080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MSE final: 0.020 sobre 30 escenas con poses condicionantes reales de FP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Score medio agarre: 0.962 (YCB-V) / 0.963 (T-LESS) — supera umbral 0.95 ✓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Latencia p95 sampling DDPM-100: 1.88 ms (offline) / 133-510 ms (DDIM en MPS, según pasos)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Ablation n_diffusion_steps: 25 ofrece mejor trade-off (DDIM-25 reduce latencia 65 % vs DDPM-100 manteniendo calidad)</a:t>
            </a:r>
          </a:p>
        </p:txBody>
      </p:sp>
      <p:pic>
        <p:nvPicPr>
          <p:cNvPr id="6" name="Picture 5" descr="latency_vs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0" y="3600000"/>
            <a:ext cx="5400000" cy="33441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6120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5876B"/>
                </a:solidFill>
              </a:rPr>
              <a:t>✅ H2 ACEPTADA — score y latencia cumplen criterios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40000"/>
          </a:xfrm>
          <a:prstGeom prst="rect">
            <a:avLst/>
          </a:prstGeom>
          <a:solidFill>
            <a:srgbClr val="009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/>
          <a:lstStyle/>
          <a:p>
            <a:pPr algn="l"/>
            <a:r>
              <a:rPr sz="2200" b="1">
                <a:solidFill>
                  <a:srgbClr val="FFFFFF"/>
                </a:solidFill>
              </a:rPr>
              <a:t>Resultados H3: validación end-to-end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40000" y="108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9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CoppeliaSim Edu V4.10 + escena pickAndPlaceDemo + robot Ragnar (delta) en vivo:</a:t>
            </a:r>
          </a:p>
        </p:txBody>
      </p:sp>
      <p:pic>
        <p:nvPicPr>
          <p:cNvPr id="5" name="Picture 4" descr="composite_v2_3ph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440000"/>
            <a:ext cx="10800000" cy="202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0000" y="3960000"/>
            <a:ext cx="108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C3E50"/>
                </a:solidFill>
              </a:rPr>
              <a:t>•  YCB-V cycle p95 = 6125 ms (FP 4273 + Diff 176 + Sim 1734) → margen 3.88 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C3E50"/>
                </a:solidFill>
              </a:rPr>
              <a:t>•  T-LESS cycle p95 = 6857 ms (FP 5174 + Diff 214 + Sim 1971) → margen 3.14 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C3E50"/>
                </a:solidFill>
              </a:rPr>
              <a:t>•  Validación n = 30 instancias por dataset con física activa en CoppeliaSim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C3E50"/>
                </a:solidFill>
              </a:rPr>
              <a:t>•  Video MP4 demo_v2.mp4 (2.6 MB, 33 s, 720p) commiteado en repositorio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6120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5876B"/>
                </a:solidFill>
              </a:rPr>
              <a:t>✅ H3 ACEPTADA con margen ≥ 3.14 s respecto al umbral industrial (10 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40000"/>
          </a:xfrm>
          <a:prstGeom prst="rect">
            <a:avLst/>
          </a:prstGeom>
          <a:solidFill>
            <a:srgbClr val="009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/>
          <a:lstStyle/>
          <a:p>
            <a:pPr algn="l"/>
            <a:r>
              <a:rPr sz="2200" b="1">
                <a:solidFill>
                  <a:srgbClr val="FFFFFF"/>
                </a:solidFill>
              </a:rPr>
              <a:t>Análisis de robustez (oclusión + ruido)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40000" y="108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9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</a:rPr>
              <a:t>Estudio adicional sobre 300 instancias por dataset:</a:t>
            </a:r>
          </a:p>
        </p:txBody>
      </p:sp>
      <p:pic>
        <p:nvPicPr>
          <p:cNvPr id="5" name="Picture 4" descr="fig_robustness_occl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368000"/>
            <a:ext cx="5400000" cy="2971179"/>
          </a:xfrm>
          <a:prstGeom prst="rect">
            <a:avLst/>
          </a:prstGeom>
        </p:spPr>
      </p:pic>
      <p:pic>
        <p:nvPicPr>
          <p:cNvPr id="6" name="Picture 5" descr="fig_robustness_no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1368000"/>
            <a:ext cx="5400000" cy="29711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4680000"/>
            <a:ext cx="108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</a:rPr>
              <a:t>•  T-LESS extremadamente robusto: 70 % oclusión → solo −1 pp AUC ADD-S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</a:rPr>
              <a:t>•  YCB-V: 70 % oclusión → −2.6 pp; ruido sigma=10mm → −8 pp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</a:rPr>
              <a:t>•  Bootstrap CI 95 % con B=200 en cada punto de la curva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40000"/>
          </a:xfrm>
          <a:prstGeom prst="rect">
            <a:avLst/>
          </a:prstGeom>
          <a:solidFill>
            <a:srgbClr val="009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/>
          <a:lstStyle/>
          <a:p>
            <a:pPr algn="l"/>
            <a:r>
              <a:rPr sz="2200" b="1">
                <a:solidFill>
                  <a:srgbClr val="FFFFFF"/>
                </a:solidFill>
              </a:rPr>
              <a:t>Visual servoing PBVS — cierre del lazo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40000" y="108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900000"/>
            <a:ext cx="1080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Controlador PBVS proporcional en SE(3) implementado en src/control/pbvs.py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Error en SE(3): xi = log(T_current^-1 · T_target) ∈ se(3) ≅ ℝ⁶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Velocidad de comando: xi_cmd = K_p · xi con saturación v_max=0.25 m/s, w_max=1.5 rad/s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Validación sobre 50 poses reales de FP: 100 % convergencia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Iteraciones mediana: 34 (1.7 s) ; p95: 89 (4.45 s) con dt=50 ms</a:t>
            </a:r>
          </a:p>
        </p:txBody>
      </p:sp>
      <p:pic>
        <p:nvPicPr>
          <p:cNvPr id="5" name="Picture 4" descr="fig_pbvs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3780000"/>
            <a:ext cx="10800000" cy="3797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40000"/>
          </a:xfrm>
          <a:prstGeom prst="rect">
            <a:avLst/>
          </a:prstGeom>
          <a:solidFill>
            <a:srgbClr val="009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/>
          <a:lstStyle/>
          <a:p>
            <a:pPr algn="l"/>
            <a:r>
              <a:rPr sz="2200" b="1">
                <a:solidFill>
                  <a:srgbClr val="FFFFFF"/>
                </a:solidFill>
              </a:rPr>
              <a:t>Aporte original del TFM (defendible)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40000" y="108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900000"/>
            <a:ext cx="1080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1. Integración matemática unificada SE(3)/SO(3) + SDEs — primera implementación documentada FP+Diffusion para bin picking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2. Reproducción cuantitativa del SOTA en hardware accesible: ~$1.9k (M1 Pro + Colab gratis) vs ~$15-150k industrial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3. Rigor metodológico superior al estándar: bootstrap CI 95 % B=1000, particiones BOP-19, lockfile bit-exacto, RUN_CARD trazable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4. Validación end-to-end con evidencia visual reproducible (video MP4 + 9 frames-clave commiteados)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5. Análisis de robustez con curvas de degradación bootstrap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6. Controlador PBVS implementado y validado (100 % convergencia)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7. Ablation formal del parámetro n_diffusion_steps con justificación operacional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40000"/>
          </a:xfrm>
          <a:prstGeom prst="rect">
            <a:avLst/>
          </a:prstGeom>
          <a:solidFill>
            <a:srgbClr val="009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/>
          <a:lstStyle/>
          <a:p>
            <a:pPr algn="l"/>
            <a:r>
              <a:rPr sz="2200" b="1">
                <a:solidFill>
                  <a:srgbClr val="FFFFFF"/>
                </a:solidFill>
              </a:rPr>
              <a:t>Limitaciones y qué NO aporta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40000" y="108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900000"/>
            <a:ext cx="1080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L1. No reclama mejorar las métricas absolutas de FoundationPose (Wen et al., CVPR 2024) — son SOTA y se reproducen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L2. No participa en BOP Challenge 2024 oficial — usa subset BOP-19 con AUC ADD-S como métrica complementaria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L3. Diffusion Policy entrenada sobre dataset sintético heurístico, no demostraciones humanas reales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L4. Validación solo en simulación (CoppeliaSim) — no incluye robot físico real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L5. Toolkit BOP oficial C++ no ejecutado (limitación macOS/ARM); se usa AUC ADD-S equivalente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L6. n=30 instancias por dataset en E2E live (limitación cuota Colab Free)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L7. Licencia NC de FoundationPose restringe transferencia industrial directa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522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66B00"/>
                </a:solidFill>
              </a:rPr>
              <a:t>Esta delimitación clara es lo que hace el TFM defendible sin ambigüedades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40000"/>
          </a:xfrm>
          <a:prstGeom prst="rect">
            <a:avLst/>
          </a:prstGeom>
          <a:solidFill>
            <a:srgbClr val="009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/>
          <a:lstStyle/>
          <a:p>
            <a:pPr algn="l"/>
            <a:r>
              <a:rPr sz="2200" b="1">
                <a:solidFill>
                  <a:srgbClr val="FFFFFF"/>
                </a:solidFill>
              </a:rPr>
              <a:t>Democratización: comparativa de costes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40000" y="108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</a:rPr>
              <a:t>16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" y="1080000"/>
          <a:ext cx="1044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0000"/>
                <a:gridCol w="3480000"/>
                <a:gridCol w="3480000"/>
              </a:tblGrid>
              <a:tr h="576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Componente</a:t>
                      </a:r>
                    </a:p>
                  </a:txBody>
                  <a:tcPr>
                    <a:solidFill>
                      <a:srgbClr val="0098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Setup industrial típico</a:t>
                      </a:r>
                    </a:p>
                  </a:txBody>
                  <a:tcPr>
                    <a:solidFill>
                      <a:srgbClr val="0098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Setup TFM</a:t>
                      </a:r>
                    </a:p>
                  </a:txBody>
                  <a:tcPr>
                    <a:solidFill>
                      <a:srgbClr val="0098CD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sz="1300"/>
                        <a:t>GPU principal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NVIDIA A100 80GB (~$10k)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Google Colab T4 (gratis)</a:t>
                      </a:r>
                    </a:p>
                  </a:txBody>
                  <a:tcPr/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sz="1300"/>
                        <a:t>GPU local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RTX 4090 (~$2k)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Apple M1 Pro / MPS (~$1.8k)</a:t>
                      </a:r>
                    </a:p>
                  </a:txBody>
                  <a:tcPr/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sz="1300"/>
                        <a:t>Servidor / 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DGX A100 (~$150k)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— (no aplica)</a:t>
                      </a:r>
                    </a:p>
                  </a:txBody>
                  <a:tcPr/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66B00"/>
                          </a:solidFill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66B00"/>
                          </a:solidFill>
                        </a:rPr>
                        <a:t>$15 000 – $150 000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66B00"/>
                          </a:solidFill>
                        </a:rPr>
                        <a:t>~$1 920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0000" y="504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5876B"/>
                </a:solidFill>
              </a:rPr>
              <a:t>1-2 órdenes de magnitud menos costo — democratización es aporte verificable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40000"/>
          </a:xfrm>
          <a:prstGeom prst="rect">
            <a:avLst/>
          </a:prstGeom>
          <a:solidFill>
            <a:srgbClr val="009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/>
          <a:lstStyle/>
          <a:p>
            <a:pPr algn="l"/>
            <a:r>
              <a:rPr sz="2200" b="1">
                <a:solidFill>
                  <a:srgbClr val="FFFFFF"/>
                </a:solidFill>
              </a:rP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40000" y="108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900000"/>
            <a:ext cx="1080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Los 4 objetivos específicos (OE1-OE4) se han alcanzado con evidencia experimental robusta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Las 3 hipótesis (H1, H2, H3) se aceptan formalmente con intervalos de confianza al 95 %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Aporte original verificable: integración matemática + reproducibilidad + rigor + evidencia visual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El pipeline FoundationPose + Diffusion Policy es viable para bin picking industrial sin GPU dedicada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Robustez confirmada hasta 70 % oclusión y ruido sensor de 10 mm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PBVS controlador converge 100 % en validación con poses reales (mediana 1.7 s)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Reproducibilidad completa: ~70 commits, RUN_CARDs, scripts, video, bootstrap CI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40000"/>
          </a:xfrm>
          <a:prstGeom prst="rect">
            <a:avLst/>
          </a:prstGeom>
          <a:solidFill>
            <a:srgbClr val="009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/>
          <a:lstStyle/>
          <a:p>
            <a:pPr algn="l"/>
            <a:r>
              <a:rPr sz="2200" b="1">
                <a:solidFill>
                  <a:srgbClr val="FFFFFF"/>
                </a:solidFill>
              </a:rPr>
              <a:t>Trabajo futuro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40000" y="108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900000"/>
            <a:ext cx="1080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Transferencia sim-to-real con robot físico (Kinova, UR, Franka)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Entrenamiento de Diffusion Policy sobre demostraciones humanas reales (no sintéticas)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Integración con LLM para planificación de alto nivel (task instruction → grasp sequence)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Evaluación oficial BOP Challenge 2025 con toolkit C++ en cluster Linux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Extensión a category-level pose estimation (objetos novel sin CAD)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Optimización para edge: NVIDIA Jetson, deployment en factoría real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</a:rPr>
              <a:t>•  Comparación con métodos más recientes que aparezcan post-defensa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40000"/>
          </a:xfrm>
          <a:prstGeom prst="rect">
            <a:avLst/>
          </a:prstGeom>
          <a:solidFill>
            <a:srgbClr val="009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/>
          <a:lstStyle/>
          <a:p>
            <a:pPr algn="l"/>
            <a:r>
              <a:rPr sz="2200" b="1">
                <a:solidFill>
                  <a:srgbClr val="FFFFFF"/>
                </a:solidFill>
              </a:rPr>
              <a:t>Reproducibilidad — repositorio público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40000" y="108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9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98CD"/>
                </a:solidFill>
              </a:rPr>
              <a:t>github.com/Giocrisrai/pose6dof-transformers-diffusion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620000"/>
            <a:ext cx="1080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</a:rPr>
              <a:t>•  Código fuente Python (src/perception, src/planning, src/simulation, src/control)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</a:rPr>
              <a:t>•  Scripts ejecutables (experiments/) con resultados JSON/PNG/MP4 commiteados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</a:rPr>
              <a:t>•  Notebooks Jupyter para Colab (notebooks/colab/) y local (notebooks/)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</a:rPr>
              <a:t>•  Tests unitarios pytest (77 tests pasando)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</a:rPr>
              <a:t>•  Documentación: README, REPRODUCIBILITY.md, PROTOCOLO_EXPERIMENTAL.md, docs/entrega2/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</a:rPr>
              <a:t>•  RUN_CARD trazable hasta commit + lockfile bit-exacto + scripts download_drive_assets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</a:rPr>
              <a:t>•  Video MP4 demo (33 s) + GIF + 9 highlights frame-by-frame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</a:rPr>
              <a:t>•  Diagrama de arquitectura + 5 tablas + 6 figuras experimentales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62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0098CD"/>
                </a:solidFill>
              </a:rPr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288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C3E50"/>
                </a:solidFill>
              </a:rPr>
              <a:t>Preguntas y comentarios del tribunal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468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</a:rPr>
              <a:t>Giocrisrai Godoy Bonillo · José Miguel Carrasco · UNIR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